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752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Основное название и подзаголовок для аудитории. Визуализация справа передает механику опытного образца игры Qwen по войне 1812 года: категории, карточки с баллами и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Дайте участникам попробовать соотнести карточки из раздаточного набора. После короткого обсуждения поставьте проблему трудоемкости подготовки множества вариантов.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Предложите ответить жестом или карточкой. Поясните, что офлайн-работа HTML возможна при отсутствии внешних библиотек и ресурсов.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5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Предложите ответить жестом или карточкой. Поясните, что офлайн-работа HTML возможна при отсутствии внешних библиотек и ресурсов.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Назовите доступные педагогам сервисы Kimi, Qwen, DeepSeek. Интерфейсы меняются, поэтому алгоритм не привязан к одному поставщику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реальную игру из материалов сайта МК отдельно от презентации. Слайд содержит перерисованную схему, а не скриншот браузера: в исходном коде Qwen две категории, по три вопроса и три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Повторите единый алгоритм из универсальной памятки: загрузить, проверить, ОК, создать, запустить, исправить. ОК — отдельный этап после содержательной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Подчеркните, что форматы могут различаться по поддержке в Kimi, Qwen, DeepSeek и других сервисах. Попросите ИИ указать, какие файлы и страницы ему действительно удалось прочесть.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попросите участников открыть/загрузить учебную карточку. В полном комплекте есть семь пар и исторический контекст. На слайде — четыре пары как пример, а не исчерпывающий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варианта из универсальных памяток для участников. В рамках практики можно выбрать один маршрут; алгоритм проверки и сохранения один для всех.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Предложите участникам скопировать полный универсальный стартовый промпт из раздатки, а не перепечатывать короткую демонстрационную версию на слайде. Сначала таблица, затем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содержательный барьер. Из всех извлеченных пар проверьте факты, даты, формулировки и однозначность ответа. Отдельным сообщением отправьте «ОК» только после правок.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раздатке есть полные промпты для маршрутов А, Б, В. На этом слайде сокращенные функциональные требования. К примеру Qwen: категория, стоимость, вопрос, показ ответа, выбор команды и автоматическое начисление.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Повторите этапы генерации, отработанные в скриншотах проекта: прикрепить материал, получить таблицу, проверить и подтвердить ОК, дождаться полного HTML. Рисунки на слайде — упрощенные схемы, не скриншоты конкретной версии интерфейса.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первом случае используйте прямую загрузку. Во втором скопируйте весь код от начального тега до закрывающего &lt;/html&gt;, без троеточий и пропусков. На следующем слайде покажите правила сохранения.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сохранение кода на компьютере: «Блокнот» → «Файл» → «Сохранить как» → имя тренажер.html (в примере trenazher.html) → тип «Все файлы» → кодировка UTF-8. Откройте .html в браузере. Не допустить .html.txt.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Проверьте по одной верной и неверной попытке. Попробуйте новое прохождение, мобильный экран и открытие без сети. Просите ИИ вернуть полный обновленный HTML при исправлении, не ломая рабочие режимы.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Названия трех документов соответствуют новому комплекту материалов 20 октября: «МК вайбкод краткая памятка_A4.docx», «МК вайбкод универсальная памятка.docx» и «МК вайбкод тренировка и учебные промпты.docx». На сайте МК должны остаться памятки для просмотра; старые ссылки на лишние загрузки убраны.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Подарок №1: проект «Лица истории Беларуси» (https://istorianaty.github.io/litsa-istorii-belarusi/). QR ведет на проверенную опубликованную страницу. Подарок №2: автономный конструктор гуманитарных командных викторин, размещенный в материалах сайта МК. Адрес конструктора не указывается, поскольку отдельная публичная ссылка не подтверждена. Завершите вопросом: «Какую учебную задачу вы теперь можете решить с помощью ИИ?»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4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0"/>
            <a:ext cx="3291840" cy="6858000"/>
          </a:xfrm>
          <a:prstGeom prst="rect">
            <a:avLst/>
          </a:prstGeom>
          <a:solidFill>
            <a:srgbClr val="0B393C"/>
          </a:solidFill>
          <a:ln w="7620">
            <a:solidFill>
              <a:srgbClr val="0B393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8B54D"/>
          </a:solidFill>
          <a:ln w="7620">
            <a:solidFill>
              <a:srgbClr val="F8B5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512064"/>
            <a:ext cx="2057400" cy="365760"/>
          </a:xfrm>
          <a:prstGeom prst="roundRect">
            <a:avLst>
              <a:gd name="adj" fmla="val 45000"/>
            </a:avLst>
          </a:prstGeom>
          <a:solidFill>
            <a:srgbClr val="F8B54D"/>
          </a:solidFill>
          <a:ln w="7620">
            <a:solidFill>
              <a:srgbClr val="F8B5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521208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722376" y="1280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BCE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МАСТЕР-КЛАСС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3913632"/>
            <a:ext cx="6263640" cy="77724"/>
          </a:xfrm>
          <a:prstGeom prst="rect">
            <a:avLst/>
          </a:prstGeom>
          <a:solidFill>
            <a:srgbClr val="F8B54D"/>
          </a:solidFill>
          <a:ln w="7620">
            <a:solidFill>
              <a:srgbClr val="F8B5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4084848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2000" dirty="0">
                <a:solidFill>
                  <a:srgbClr val="E9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Учитель истории высшей квалификационной категории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ru-RU" sz="2000" dirty="0">
                <a:solidFill>
                  <a:srgbClr val="E9F5F2"/>
                </a:solidFill>
                <a:latin typeface="Arial" pitchFamily="34" charset="0"/>
                <a:cs typeface="Arial" pitchFamily="34" charset="-120"/>
              </a:rPr>
              <a:t>Сушко Людмила Александровна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ru-RU" sz="2000" dirty="0">
                <a:solidFill>
                  <a:srgbClr val="E9F5F2"/>
                </a:solidFill>
                <a:latin typeface="Arial" pitchFamily="34" charset="0"/>
                <a:cs typeface="Arial" pitchFamily="34" charset="-120"/>
              </a:rPr>
              <a:t>ГУО «Средняя школа № 54 г. Гомеля»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6383259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C6E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· Обществоведение · Работа без программирования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25937" y="2108718"/>
            <a:ext cx="4766262" cy="2696547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23313A">
                <a:alpha val="11000"/>
              </a:srgbClr>
            </a:outerShdw>
          </a:effectLst>
        </p:spPr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FBE62F8-3C1C-4AAE-9599-AAFE34463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653" y="2355483"/>
            <a:ext cx="4544829" cy="220208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DFC8C3A-6FBF-4A17-85C8-16F7834DBF18}"/>
              </a:ext>
            </a:extLst>
          </p:cNvPr>
          <p:cNvSpPr txBox="1"/>
          <p:nvPr/>
        </p:nvSpPr>
        <p:spPr>
          <a:xfrm>
            <a:off x="488117" y="1633196"/>
            <a:ext cx="61068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Вайбкодинг</a:t>
            </a:r>
            <a:r>
              <a:rPr lang="ru-RU" sz="2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как инструмент создания интерактивных тренажёров для подготовки к ЦТ и ЦЭ по истории и обществоведению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3606B44-A73D-4F8D-BB6B-BD221DDF8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328" y="877824"/>
            <a:ext cx="4915538" cy="4897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карточка — много учебных задач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Попробуем начать не с компьютера, а с бумажного исторического домино.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ПРОБЛЕМА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2648" y="2340864"/>
            <a:ext cx="2505456" cy="1344168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2596896"/>
            <a:ext cx="73152" cy="832104"/>
          </a:xfrm>
          <a:prstGeom prst="roundRect">
            <a:avLst>
              <a:gd name="adj" fmla="val 225000"/>
            </a:avLst>
          </a:prstGeom>
          <a:solidFill>
            <a:srgbClr val="F8B54D"/>
          </a:solidFill>
          <a:ln w="7620">
            <a:solidFill>
              <a:srgbClr val="F8B54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569464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1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051560" y="3090672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 Багратион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46704" y="2340864"/>
            <a:ext cx="3749040" cy="1344168"/>
          </a:xfrm>
          <a:prstGeom prst="roundRect">
            <a:avLst>
              <a:gd name="adj" fmla="val 12245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596896"/>
            <a:ext cx="73152" cy="832104"/>
          </a:xfrm>
          <a:prstGeom prst="roundRect">
            <a:avLst>
              <a:gd name="adj" fmla="val 225000"/>
            </a:avLst>
          </a:prstGeom>
          <a:solidFill>
            <a:srgbClr val="F8B54D"/>
          </a:solidFill>
          <a:ln w="7620">
            <a:solidFill>
              <a:srgbClr val="F8B5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2569464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2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3785616" y="3090672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Командовал 2-й Западной армией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" y="3849624"/>
            <a:ext cx="2505456" cy="1344168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" y="4105656"/>
            <a:ext cx="73152" cy="832104"/>
          </a:xfrm>
          <a:prstGeom prst="roundRect">
            <a:avLst>
              <a:gd name="adj" fmla="val 225000"/>
            </a:avLst>
          </a:prstGeom>
          <a:solidFill>
            <a:srgbClr val="126E72"/>
          </a:solidFill>
          <a:ln w="762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078224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3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051560" y="4599432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Александр Тормасов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46704" y="3849624"/>
            <a:ext cx="3749040" cy="1344168"/>
          </a:xfrm>
          <a:prstGeom prst="roundRect">
            <a:avLst>
              <a:gd name="adj" fmla="val 12245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4105656"/>
            <a:ext cx="73152" cy="832104"/>
          </a:xfrm>
          <a:prstGeom prst="roundRect">
            <a:avLst>
              <a:gd name="adj" fmla="val 225000"/>
            </a:avLst>
          </a:prstGeom>
          <a:solidFill>
            <a:srgbClr val="126E72"/>
          </a:solidFill>
          <a:ln w="762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4078224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4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3785616" y="4599432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Войска под его командованием одержали победу под Кобрином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52360" y="2249424"/>
            <a:ext cx="4069080" cy="3319272"/>
          </a:xfrm>
          <a:prstGeom prst="roundRect">
            <a:avLst>
              <a:gd name="adj" fmla="val 4959"/>
            </a:avLst>
          </a:prstGeom>
          <a:solidFill>
            <a:srgbClr val="0C474A"/>
          </a:solidFill>
          <a:ln w="7620">
            <a:solidFill>
              <a:srgbClr val="0C474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615184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ЕСЛИ...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90688" y="3044952"/>
            <a:ext cx="34015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такие карточки нужны</a:t>
            </a:r>
            <a:endParaRPr lang="en-US" sz="2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каждому параграфу</a:t>
            </a:r>
            <a:endParaRPr lang="en-US" sz="2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для нескольких классов?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7799832" y="4901184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D0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Выход: один источник → разные цифровые задания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РАЗОГРЕВ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«Миф или факт?»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быстрых утверждения перед работой с искусственным интеллектом.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РАЗОГРЕВ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231136"/>
            <a:ext cx="1093622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2432304"/>
            <a:ext cx="512064" cy="512064"/>
          </a:xfrm>
          <a:prstGeom prst="ellipse">
            <a:avLst/>
          </a:prstGeom>
          <a:solidFill>
            <a:srgbClr val="FFEBE7"/>
          </a:solidFill>
          <a:ln w="12700">
            <a:solidFill>
              <a:srgbClr val="FFEBE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46888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17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1912" y="2450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знания программирования создать тренажер невозможно.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" y="3401568"/>
            <a:ext cx="1093622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" y="3602736"/>
            <a:ext cx="512064" cy="512064"/>
          </a:xfrm>
          <a:prstGeom prst="ellipse">
            <a:avLst/>
          </a:prstGeom>
          <a:solidFill>
            <a:srgbClr val="FFEBE7"/>
          </a:solidFill>
          <a:ln w="12700">
            <a:solidFill>
              <a:srgbClr val="FFEBE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63931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17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1912" y="362102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ИИ сделал красивую игру, проверять ее уже не нужно.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93622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" y="4773168"/>
            <a:ext cx="512064" cy="512064"/>
          </a:xfrm>
          <a:prstGeom prst="ellipse">
            <a:avLst/>
          </a:prstGeom>
          <a:solidFill>
            <a:srgbClr val="FFEBE7"/>
          </a:solidFill>
          <a:ln w="12700">
            <a:solidFill>
              <a:srgbClr val="FFEBE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480974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F17660"/>
                </a:solidFill>
                <a:latin typeface="Arial" pitchFamily="34" charset="0"/>
                <a:cs typeface="Arial" pitchFamily="34" charset="-120"/>
              </a:rPr>
              <a:t>03</a:t>
            </a:r>
          </a:p>
        </p:txBody>
      </p:sp>
      <p:sp>
        <p:nvSpPr>
          <p:cNvPr id="23" name="Text 21"/>
          <p:cNvSpPr/>
          <p:nvPr/>
        </p:nvSpPr>
        <p:spPr>
          <a:xfrm>
            <a:off x="1581912" y="4791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HTML может открываться без интернета.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98501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РАЗОГРЕВ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«Миф или факт?»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быстрых утверждения перед работой с искусственным интеллектом.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РАЗОГРЕВ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231136"/>
            <a:ext cx="1093622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2432304"/>
            <a:ext cx="512064" cy="512064"/>
          </a:xfrm>
          <a:prstGeom prst="ellipse">
            <a:avLst/>
          </a:prstGeom>
          <a:solidFill>
            <a:srgbClr val="FFEBE7"/>
          </a:solidFill>
          <a:ln w="12700">
            <a:solidFill>
              <a:srgbClr val="FFEBE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46888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17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1912" y="2450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знания программирования создать тренажер невозможно.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829800" y="2542032"/>
            <a:ext cx="1316736" cy="365760"/>
          </a:xfrm>
          <a:prstGeom prst="roundRect">
            <a:avLst>
              <a:gd name="adj" fmla="val 45000"/>
            </a:avLst>
          </a:prstGeom>
          <a:solidFill>
            <a:srgbClr val="FFEBE7"/>
          </a:solidFill>
          <a:ln w="7620">
            <a:solidFill>
              <a:srgbClr val="FFEBE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39528" y="2551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F17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МИФ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40080" y="3401568"/>
            <a:ext cx="1093622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" y="3602736"/>
            <a:ext cx="512064" cy="512064"/>
          </a:xfrm>
          <a:prstGeom prst="ellipse">
            <a:avLst/>
          </a:prstGeom>
          <a:solidFill>
            <a:srgbClr val="FFEBE7"/>
          </a:solidFill>
          <a:ln w="12700">
            <a:solidFill>
              <a:srgbClr val="FFEBE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63931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17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1912" y="362102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ИИ сделал красивую игру, проверять ее уже не нужно.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829800" y="3712464"/>
            <a:ext cx="1316736" cy="365760"/>
          </a:xfrm>
          <a:prstGeom prst="roundRect">
            <a:avLst>
              <a:gd name="adj" fmla="val 45000"/>
            </a:avLst>
          </a:prstGeom>
          <a:solidFill>
            <a:srgbClr val="FFEBE7"/>
          </a:solidFill>
          <a:ln w="7620">
            <a:solidFill>
              <a:srgbClr val="FFEBE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39528" y="3721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F17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МИФ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93622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" y="4773168"/>
            <a:ext cx="512064" cy="512064"/>
          </a:xfrm>
          <a:prstGeom prst="ellipse">
            <a:avLst/>
          </a:prstGeom>
          <a:solidFill>
            <a:srgbClr val="E7F4EA"/>
          </a:solidFill>
          <a:ln w="12700">
            <a:solidFill>
              <a:srgbClr val="E7F4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4809744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38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81912" y="47914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HTML может открываться без интернета.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9829800" y="4882896"/>
            <a:ext cx="1316736" cy="365760"/>
          </a:xfrm>
          <a:prstGeom prst="roundRect">
            <a:avLst>
              <a:gd name="adj" fmla="val 45000"/>
            </a:avLst>
          </a:prstGeom>
          <a:solidFill>
            <a:srgbClr val="E7F4EA"/>
          </a:solidFill>
          <a:ln w="7620">
            <a:solidFill>
              <a:srgbClr val="E7F4E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9528" y="4892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238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12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ТЕХНОЛОГИИ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Вайбкодинг: задачу формулирует учитель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помогает создать программу, но педагог управляет содержанием и проверкой.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ИДЕЯ ТЕХНОЛОГИИ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304288"/>
            <a:ext cx="5047488" cy="2697480"/>
          </a:xfrm>
          <a:prstGeom prst="roundRect">
            <a:avLst>
              <a:gd name="adj" fmla="val 6102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615184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26E72"/>
          </a:solidFill>
          <a:ln w="762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15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00784" y="2642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УЧИТЕЛЬ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24128" y="3246120"/>
            <a:ext cx="437083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4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выбирает учебную цель</a:t>
            </a:r>
            <a:endParaRPr lang="en-US" sz="164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4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предоставляет проверенный источник</a:t>
            </a:r>
            <a:endParaRPr lang="en-US" sz="164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4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оценивает задания и ответы</a:t>
            </a:r>
            <a:endParaRPr lang="en-US" sz="164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4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принимает итоговый результат</a:t>
            </a:r>
            <a:endParaRPr lang="en-US" sz="1640" dirty="0"/>
          </a:p>
        </p:txBody>
      </p:sp>
      <p:sp>
        <p:nvSpPr>
          <p:cNvPr id="13" name="Shape 11"/>
          <p:cNvSpPr/>
          <p:nvPr/>
        </p:nvSpPr>
        <p:spPr>
          <a:xfrm>
            <a:off x="6419088" y="2304288"/>
            <a:ext cx="5047488" cy="2697480"/>
          </a:xfrm>
          <a:prstGeom prst="roundRect">
            <a:avLst>
              <a:gd name="adj" fmla="val 6102"/>
            </a:avLst>
          </a:prstGeom>
          <a:solidFill>
            <a:srgbClr val="EAF0FF"/>
          </a:solidFill>
          <a:ln w="762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11696" y="2615184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3159B8"/>
          </a:solidFill>
          <a:ln w="7620">
            <a:solidFill>
              <a:srgbClr val="3159B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2615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79792" y="2642616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315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НЕЙРОСЕТЬ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803136" y="3246120"/>
            <a:ext cx="442569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4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читает предоставленные материалы</a:t>
            </a:r>
            <a:endParaRPr lang="en-US" sz="164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4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предлагает механику заданий</a:t>
            </a:r>
            <a:endParaRPr lang="en-US" sz="164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4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генерирует код HTML</a:t>
            </a:r>
            <a:endParaRPr lang="en-US" sz="164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4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помогает исправить ошибки</a:t>
            </a:r>
            <a:endParaRPr lang="en-US" sz="1640" dirty="0"/>
          </a:p>
        </p:txBody>
      </p:sp>
      <p:sp>
        <p:nvSpPr>
          <p:cNvPr id="18" name="Shape 16"/>
          <p:cNvSpPr/>
          <p:nvPr/>
        </p:nvSpPr>
        <p:spPr>
          <a:xfrm>
            <a:off x="1252728" y="5468112"/>
            <a:ext cx="9692640" cy="502920"/>
          </a:xfrm>
          <a:prstGeom prst="roundRect">
            <a:avLst>
              <a:gd name="adj" fmla="val 32727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5550408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 и педагогическая корректность — ответственность учителя.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ЖИВОЙ ОБРАЗЕЦ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Получилось: командная игра «1812 год»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Опытный HTML-образец, созданный в Qwen на основе учебной карточки.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ЖИВОЙ ОБРАЗЕЦ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7333488" cy="3584448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23313A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103120"/>
            <a:ext cx="7333488" cy="539496"/>
          </a:xfrm>
          <a:prstGeom prst="roundRect">
            <a:avLst>
              <a:gd name="adj" fmla="val 30508"/>
            </a:avLst>
          </a:prstGeom>
          <a:solidFill>
            <a:srgbClr val="3159B8"/>
          </a:solidFill>
          <a:ln w="7620">
            <a:solidFill>
              <a:srgbClr val="3159B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21992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СВОЯ ИГРА  •  Беларусь в период войны 1812 г.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0976" y="2752344"/>
            <a:ext cx="3172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ЛИЧНОСТИ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25696" y="2752344"/>
            <a:ext cx="3172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СРАЖЕНИЯ И СОБЫТИЯ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3209544"/>
            <a:ext cx="3145536" cy="475488"/>
          </a:xfrm>
          <a:prstGeom prst="roundRect">
            <a:avLst>
              <a:gd name="adj" fmla="val 34615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5526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05840" y="3840480"/>
            <a:ext cx="3145536" cy="475488"/>
          </a:xfrm>
          <a:prstGeom prst="roundRect">
            <a:avLst>
              <a:gd name="adj" fmla="val 34615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88620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05840" y="4471416"/>
            <a:ext cx="3145536" cy="475488"/>
          </a:xfrm>
          <a:prstGeom prst="roundRect">
            <a:avLst>
              <a:gd name="adj" fmla="val 34615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5171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462272" y="3209544"/>
            <a:ext cx="3145536" cy="475488"/>
          </a:xfrm>
          <a:prstGeom prst="roundRect">
            <a:avLst>
              <a:gd name="adj" fmla="val 34615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325526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462272" y="3840480"/>
            <a:ext cx="3145536" cy="475488"/>
          </a:xfrm>
          <a:prstGeom prst="roundRect">
            <a:avLst>
              <a:gd name="adj" fmla="val 34615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388620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62272" y="4471416"/>
            <a:ext cx="3145536" cy="475488"/>
          </a:xfrm>
          <a:prstGeom prst="roundRect">
            <a:avLst>
              <a:gd name="adj" fmla="val 34615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45171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06424" y="5248656"/>
            <a:ext cx="1901952" cy="301752"/>
          </a:xfrm>
          <a:prstGeom prst="roundRect">
            <a:avLst>
              <a:gd name="adj" fmla="val 54545"/>
            </a:avLst>
          </a:prstGeom>
          <a:solidFill>
            <a:srgbClr val="EAF0FF"/>
          </a:solidFill>
          <a:ln w="762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5303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15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1   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19272" y="5248656"/>
            <a:ext cx="1901952" cy="301752"/>
          </a:xfrm>
          <a:prstGeom prst="roundRect">
            <a:avLst>
              <a:gd name="adj" fmla="val 54545"/>
            </a:avLst>
          </a:prstGeom>
          <a:solidFill>
            <a:srgbClr val="EAF0FF"/>
          </a:solidFill>
          <a:ln w="762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5303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15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2   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5248656"/>
            <a:ext cx="1901952" cy="301752"/>
          </a:xfrm>
          <a:prstGeom prst="roundRect">
            <a:avLst>
              <a:gd name="adj" fmla="val 54545"/>
            </a:avLst>
          </a:prstGeom>
          <a:solidFill>
            <a:srgbClr val="EAF0FF"/>
          </a:solidFill>
          <a:ln w="762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5303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15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3   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84464" y="2103120"/>
            <a:ext cx="3236976" cy="3593592"/>
          </a:xfrm>
          <a:prstGeom prst="roundRect">
            <a:avLst>
              <a:gd name="adj" fmla="val 5085"/>
            </a:avLst>
          </a:prstGeom>
          <a:solidFill>
            <a:srgbClr val="0C474A"/>
          </a:solidFill>
          <a:ln w="7620">
            <a:solidFill>
              <a:srgbClr val="0C474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22792" y="246888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ОБРАЗЦЕ ЕСТЬ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13648" y="3035808"/>
            <a:ext cx="261518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категории</a:t>
            </a:r>
            <a:endParaRPr lang="en-US" sz="1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вопросов</a:t>
            </a:r>
            <a:endParaRPr lang="en-US" sz="1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команды</a:t>
            </a:r>
            <a:endParaRPr lang="en-US" sz="1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начисление баллов</a:t>
            </a:r>
            <a:endParaRPr lang="en-US" sz="1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результата</a:t>
            </a:r>
            <a:endParaRPr lang="en-US" sz="1850" dirty="0"/>
          </a:p>
        </p:txBody>
      </p:sp>
      <p:sp>
        <p:nvSpPr>
          <p:cNvPr id="34" name="Text 32"/>
          <p:cNvSpPr/>
          <p:nvPr/>
        </p:nvSpPr>
        <p:spPr>
          <a:xfrm>
            <a:off x="804672" y="593445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 интерфейса по структуре HTML-образца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АЛГОРИТМ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действий — один готовый инструмент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Одинаково подходит для истории и обществоведения.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ГЛАВНЫЙ АЛГОРИТМ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295144"/>
            <a:ext cx="3447288" cy="1161288"/>
          </a:xfrm>
          <a:prstGeom prst="roundRect">
            <a:avLst>
              <a:gd name="adj" fmla="val 1417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" y="2560320"/>
            <a:ext cx="594360" cy="59436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615184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2487168"/>
            <a:ext cx="2267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ЗАГРУЗИ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295351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8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исходный материал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4453128" y="2295144"/>
            <a:ext cx="3447288" cy="1161288"/>
          </a:xfrm>
          <a:prstGeom prst="roundRect">
            <a:avLst>
              <a:gd name="adj" fmla="val 1417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2560320"/>
            <a:ext cx="594360" cy="59436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2615184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367528" y="2487168"/>
            <a:ext cx="2267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367528" y="295351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8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таблицу и ключи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266176" y="2295144"/>
            <a:ext cx="3447288" cy="1161288"/>
          </a:xfrm>
          <a:prstGeom prst="roundRect">
            <a:avLst>
              <a:gd name="adj" fmla="val 14173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9912" y="2560320"/>
            <a:ext cx="594360" cy="594360"/>
          </a:xfrm>
          <a:prstGeom prst="ellipse">
            <a:avLst/>
          </a:prstGeom>
          <a:solidFill>
            <a:srgbClr val="F8B54D"/>
          </a:solidFill>
          <a:ln w="12700">
            <a:solidFill>
              <a:srgbClr val="F8B54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615184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80576" y="2487168"/>
            <a:ext cx="2267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«ОК»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80576" y="295351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8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 данные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640080" y="3694176"/>
            <a:ext cx="3447288" cy="1161288"/>
          </a:xfrm>
          <a:prstGeom prst="roundRect">
            <a:avLst>
              <a:gd name="adj" fmla="val 1417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" y="3959352"/>
            <a:ext cx="594360" cy="59436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4014216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554480" y="3886200"/>
            <a:ext cx="2267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СОЗДАЙ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554480" y="4352544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8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 HTML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4453128" y="3694176"/>
            <a:ext cx="3447288" cy="1161288"/>
          </a:xfrm>
          <a:prstGeom prst="roundRect">
            <a:avLst>
              <a:gd name="adj" fmla="val 1417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6864" y="3959352"/>
            <a:ext cx="594360" cy="59436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4014216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367528" y="3886200"/>
            <a:ext cx="2267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5367528" y="4352544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8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 в браузере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8266176" y="3694176"/>
            <a:ext cx="3447288" cy="1161288"/>
          </a:xfrm>
          <a:prstGeom prst="roundRect">
            <a:avLst>
              <a:gd name="adj" fmla="val 1417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39912" y="3959352"/>
            <a:ext cx="594360" cy="59436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4014216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180576" y="3886200"/>
            <a:ext cx="2267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ИСПРАВЬ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180576" y="4352544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8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проведи аудит</a:t>
            </a:r>
            <a:endParaRPr lang="en-US" sz="1280" dirty="0"/>
          </a:p>
        </p:txBody>
      </p:sp>
      <p:sp>
        <p:nvSpPr>
          <p:cNvPr id="38" name="Shape 36"/>
          <p:cNvSpPr/>
          <p:nvPr/>
        </p:nvSpPr>
        <p:spPr>
          <a:xfrm>
            <a:off x="1956816" y="5385816"/>
            <a:ext cx="8293608" cy="438912"/>
          </a:xfrm>
          <a:prstGeom prst="roundRect">
            <a:avLst>
              <a:gd name="adj" fmla="val 37500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84832" y="5468112"/>
            <a:ext cx="8074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Никакого кода до проверки источника и отдельного сообщения «ОК».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можно передать не только фотографию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выбирает учитель. Поддержка конкретного формата зависит от сервиса.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МАТЕРИАЛЫ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167128"/>
            <a:ext cx="3456432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395728"/>
            <a:ext cx="1234440" cy="512064"/>
          </a:xfrm>
          <a:prstGeom prst="roundRect">
            <a:avLst>
              <a:gd name="adj" fmla="val 32143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054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9992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учебник / документ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62272" y="2167128"/>
            <a:ext cx="3456432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2395728"/>
            <a:ext cx="1234440" cy="512064"/>
          </a:xfrm>
          <a:prstGeom prst="roundRect">
            <a:avLst>
              <a:gd name="adj" fmla="val 32143"/>
            </a:avLst>
          </a:prstGeom>
          <a:solidFill>
            <a:srgbClr val="EAF0FF"/>
          </a:solidFill>
          <a:ln w="762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25054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72584" y="29992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лист / текст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66176" y="2167128"/>
            <a:ext cx="3456432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76488" y="2395728"/>
            <a:ext cx="1234440" cy="512064"/>
          </a:xfrm>
          <a:prstGeom prst="roundRect">
            <a:avLst>
              <a:gd name="adj" fmla="val 32143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25054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76488" y="29992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" y="3767328"/>
            <a:ext cx="3456432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995928"/>
            <a:ext cx="1234440" cy="512064"/>
          </a:xfrm>
          <a:prstGeom prst="roundRect">
            <a:avLst>
              <a:gd name="adj" fmla="val 32143"/>
            </a:avLst>
          </a:prstGeom>
          <a:solidFill>
            <a:srgbClr val="FFEBE7"/>
          </a:solidFill>
          <a:ln w="7620">
            <a:solidFill>
              <a:srgbClr val="FFEBE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056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JPG / PNG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5994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/ скриншот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62272" y="3767328"/>
            <a:ext cx="3456432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72584" y="3995928"/>
            <a:ext cx="1234440" cy="512064"/>
          </a:xfrm>
          <a:prstGeom prst="roundRect">
            <a:avLst>
              <a:gd name="adj" fmla="val 32143"/>
            </a:avLst>
          </a:prstGeom>
          <a:solidFill>
            <a:srgbClr val="E7F4EA"/>
          </a:solidFill>
          <a:ln w="7620">
            <a:solidFill>
              <a:srgbClr val="E7F4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41056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 / CSV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72584" y="45994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66176" y="3767328"/>
            <a:ext cx="3456432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76488" y="3995928"/>
            <a:ext cx="1234440" cy="512064"/>
          </a:xfrm>
          <a:prstGeom prst="roundRect">
            <a:avLst>
              <a:gd name="adj" fmla="val 32143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22208" y="41056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TXT / HTML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76488" y="45994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/ готовый проект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5528" y="5650992"/>
            <a:ext cx="10680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файл не читается: укажите проблему, извлеките текст или приложите изображение нужной страницы.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источник: «Беларусь в период войны 1812 г.»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8 класса из раздатки. Ниже — фрагмент учебной таблицы.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ПРАКТИКА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112264"/>
            <a:ext cx="10863072" cy="3447288"/>
          </a:xfrm>
          <a:prstGeom prst="roundRect">
            <a:avLst>
              <a:gd name="adj" fmla="val 4775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331720"/>
            <a:ext cx="4736592" cy="484632"/>
          </a:xfrm>
          <a:prstGeom prst="roundRect">
            <a:avLst>
              <a:gd name="adj" fmla="val 33962"/>
            </a:avLst>
          </a:prstGeom>
          <a:solidFill>
            <a:srgbClr val="0C474A"/>
          </a:solidFill>
          <a:ln w="7620">
            <a:solidFill>
              <a:srgbClr val="0C474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2331720"/>
            <a:ext cx="5641848" cy="484632"/>
          </a:xfrm>
          <a:prstGeom prst="roundRect">
            <a:avLst>
              <a:gd name="adj" fmla="val 33962"/>
            </a:avLst>
          </a:prstGeom>
          <a:solidFill>
            <a:srgbClr val="0C474A"/>
          </a:solidFill>
          <a:ln w="7620">
            <a:solidFill>
              <a:srgbClr val="0C474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24323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ИСТОРИЧЕСКАЯ ЛИЧНОСТЬ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843016" y="2432304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СВЯЗАННАЯ РОЛЬ / СОБЫТИЕ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96112" y="2898648"/>
            <a:ext cx="10360152" cy="585216"/>
          </a:xfrm>
          <a:prstGeom prst="rect">
            <a:avLst/>
          </a:prstGeom>
          <a:solidFill>
            <a:srgbClr val="F3F6F4"/>
          </a:solidFill>
          <a:ln w="762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" y="3008376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 Багратион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843016" y="2999232"/>
            <a:ext cx="5093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Командовал 2-й Западной армией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96112" y="3538728"/>
            <a:ext cx="1036015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3648456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Николай Раевский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843016" y="3639312"/>
            <a:ext cx="5093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 русских войск у Салтановки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96112" y="4178808"/>
            <a:ext cx="10360152" cy="585216"/>
          </a:xfrm>
          <a:prstGeom prst="rect">
            <a:avLst/>
          </a:prstGeom>
          <a:solidFill>
            <a:srgbClr val="F3F6F4"/>
          </a:solidFill>
          <a:ln w="762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" y="4288536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 Витгенштейн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843016" y="4279392"/>
            <a:ext cx="5093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Сражение под Клястицами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96112" y="4818888"/>
            <a:ext cx="1036015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8136" y="4928616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Александр Тормасов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843016" y="4919472"/>
            <a:ext cx="5093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Победа под Кобрином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1856232" y="5797296"/>
            <a:ext cx="8467344" cy="365760"/>
          </a:xfrm>
          <a:prstGeom prst="roundRect">
            <a:avLst>
              <a:gd name="adj" fmla="val 45000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84832" y="5852160"/>
            <a:ext cx="7982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3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карточка содержит 7 пар. Все задания и ключи сверяем с источником.</a:t>
            </a:r>
            <a:endParaRPr lang="en-US" sz="14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ЗАДАНИЯ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технология — три педагогических маршрута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 выбирает, какой результат нужен его ученикам.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ВЫБОР ЗАДАНИЯ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4944" y="2313432"/>
            <a:ext cx="3191256" cy="3136392"/>
          </a:xfrm>
          <a:prstGeom prst="roundRect">
            <a:avLst>
              <a:gd name="adj" fmla="val 5248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542032"/>
            <a:ext cx="2834640" cy="640080"/>
          </a:xfrm>
          <a:prstGeom prst="roundRect">
            <a:avLst>
              <a:gd name="adj" fmla="val 25714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63347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45336" y="267919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ПОВТОРЕНИЕ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969264" y="3474720"/>
            <a:ext cx="2688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 даты,</a:t>
            </a:r>
            <a:endParaRPr lang="en-US" sz="1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понятия, личности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69264" y="4517136"/>
            <a:ext cx="2596896" cy="0"/>
          </a:xfrm>
          <a:prstGeom prst="line">
            <a:avLst/>
          </a:prstGeom>
          <a:noFill/>
          <a:ln w="12700">
            <a:solidFill>
              <a:srgbClr val="DCE3E1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69264" y="4727448"/>
            <a:ext cx="2642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3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+ пары + тест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4498848" y="2313432"/>
            <a:ext cx="3191256" cy="3136392"/>
          </a:xfrm>
          <a:prstGeom prst="roundRect">
            <a:avLst>
              <a:gd name="adj" fmla="val 5248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2542032"/>
            <a:ext cx="2834640" cy="640080"/>
          </a:xfrm>
          <a:prstGeom prst="roundRect">
            <a:avLst>
              <a:gd name="adj" fmla="val 25714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63347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7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49240" y="267919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ИГРА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4773168" y="3474720"/>
            <a:ext cx="2688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Вовлечь в работу,</a:t>
            </a:r>
            <a:endParaRPr lang="en-US" sz="1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результаты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4773168" y="4517136"/>
            <a:ext cx="2596896" cy="0"/>
          </a:xfrm>
          <a:prstGeom prst="line">
            <a:avLst/>
          </a:prstGeom>
          <a:noFill/>
          <a:ln w="12700">
            <a:solidFill>
              <a:srgbClr val="DCE3E1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4773168" y="4727448"/>
            <a:ext cx="2642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30" b="1" dirty="0">
                <a:solidFill>
                  <a:srgbClr val="C7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Домино / викторина</a:t>
            </a:r>
            <a:endParaRPr lang="en-US" sz="1430" dirty="0"/>
          </a:p>
        </p:txBody>
      </p:sp>
      <p:sp>
        <p:nvSpPr>
          <p:cNvPr id="22" name="Shape 20"/>
          <p:cNvSpPr/>
          <p:nvPr/>
        </p:nvSpPr>
        <p:spPr>
          <a:xfrm>
            <a:off x="8302752" y="2313432"/>
            <a:ext cx="3191256" cy="3136392"/>
          </a:xfrm>
          <a:prstGeom prst="roundRect">
            <a:avLst>
              <a:gd name="adj" fmla="val 5248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85632" y="2542032"/>
            <a:ext cx="2834640" cy="640080"/>
          </a:xfrm>
          <a:prstGeom prst="roundRect">
            <a:avLst>
              <a:gd name="adj" fmla="val 25714"/>
            </a:avLst>
          </a:prstGeom>
          <a:solidFill>
            <a:srgbClr val="EAF0FF"/>
          </a:solidFill>
          <a:ln w="762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58784" y="263347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315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53144" y="267919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1480" dirty="0"/>
          </a:p>
        </p:txBody>
      </p:sp>
      <p:sp>
        <p:nvSpPr>
          <p:cNvPr id="26" name="Text 24"/>
          <p:cNvSpPr/>
          <p:nvPr/>
        </p:nvSpPr>
        <p:spPr>
          <a:xfrm>
            <a:off x="8577072" y="3474720"/>
            <a:ext cx="2688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Применить знания</a:t>
            </a:r>
            <a:endParaRPr lang="en-US" sz="18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учебной ситуации</a:t>
            </a:r>
            <a:endParaRPr lang="en-US" sz="1850" dirty="0"/>
          </a:p>
        </p:txBody>
      </p:sp>
      <p:sp>
        <p:nvSpPr>
          <p:cNvPr id="27" name="Shape 25"/>
          <p:cNvSpPr/>
          <p:nvPr/>
        </p:nvSpPr>
        <p:spPr>
          <a:xfrm>
            <a:off x="8577072" y="4517136"/>
            <a:ext cx="2596896" cy="0"/>
          </a:xfrm>
          <a:prstGeom prst="line">
            <a:avLst/>
          </a:prstGeom>
          <a:noFill/>
          <a:ln w="12700">
            <a:solidFill>
              <a:srgbClr val="DCE3E1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8577072" y="4727448"/>
            <a:ext cx="2642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30" b="1" dirty="0">
                <a:solidFill>
                  <a:srgbClr val="315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+ подсказки + образец</a:t>
            </a:r>
            <a:endParaRPr lang="en-US" sz="14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К ИИ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проверяем источник. Код пока не пишем.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сообщение превращает неструктурированный материал в проверяемую таблицу.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ЗАПРОС К ИИ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" y="2167128"/>
            <a:ext cx="7351776" cy="3648456"/>
          </a:xfrm>
          <a:prstGeom prst="roundRect">
            <a:avLst>
              <a:gd name="adj" fmla="val 4511"/>
            </a:avLst>
          </a:prstGeom>
          <a:solidFill>
            <a:srgbClr val="0C474A"/>
          </a:solidFill>
          <a:ln w="7620">
            <a:solidFill>
              <a:srgbClr val="0C47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14600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  /  ЭТАП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2980944"/>
            <a:ext cx="670255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«Ты — методист и разработчик учебных HTML-тренажеров.</a:t>
            </a:r>
            <a:endParaRPr lang="en-US" sz="162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Изучи прикрепленный материал по истории / обществоведению.</a:t>
            </a:r>
            <a:endParaRPr lang="en-US" sz="162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Покажи таблицу: вопрос — верный ответ — источник.</a:t>
            </a:r>
            <a:endParaRPr lang="en-US" sz="162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Отметь нечитаемые и спорные фрагменты.</a:t>
            </a:r>
            <a:endParaRPr lang="en-US" sz="162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добавляй факты от себя.</a:t>
            </a:r>
            <a:endParaRPr lang="en-US" sz="162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ПОКА НЕ ПИШИ. Жди моего сообщения „ОК“.»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8348472" y="2194560"/>
            <a:ext cx="3182112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86216" y="2551176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Прочитал ли файл?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348472" y="3703320"/>
            <a:ext cx="3182112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86216" y="401421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2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Есть ли спорные ответы?</a:t>
            </a:r>
            <a:endParaRPr lang="en-US" sz="1620" dirty="0"/>
          </a:p>
        </p:txBody>
      </p:sp>
      <p:sp>
        <p:nvSpPr>
          <p:cNvPr id="15" name="Shape 13"/>
          <p:cNvSpPr/>
          <p:nvPr/>
        </p:nvSpPr>
        <p:spPr>
          <a:xfrm>
            <a:off x="8613648" y="5404104"/>
            <a:ext cx="2651760" cy="365760"/>
          </a:xfrm>
          <a:prstGeom prst="roundRect">
            <a:avLst>
              <a:gd name="adj" fmla="val 45000"/>
            </a:avLst>
          </a:prstGeom>
          <a:solidFill>
            <a:srgbClr val="FFEBE7"/>
          </a:solidFill>
          <a:ln w="7620">
            <a:solidFill>
              <a:srgbClr val="FFEBE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23376" y="541324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7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СТОП ДО «ОК»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КОНТРОЛЯ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Проверили таблицу? Тогда пишем «ОК».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должен показать, какие задания получил из источника и где нашел ответы.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ТОЧКА КОНТРОЛЯ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" y="2212848"/>
            <a:ext cx="8019288" cy="3438144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459736"/>
            <a:ext cx="7525512" cy="521208"/>
          </a:xfrm>
          <a:prstGeom prst="roundRect">
            <a:avLst>
              <a:gd name="adj" fmla="val 31579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5786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202936" y="2578608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ПРАВИЛЬНЫЙ ОТВЕТ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41832" y="3145536"/>
            <a:ext cx="7443216" cy="612648"/>
          </a:xfrm>
          <a:prstGeom prst="rect">
            <a:avLst/>
          </a:prstGeom>
          <a:solidFill>
            <a:srgbClr val="F4F7F6"/>
          </a:solidFill>
          <a:ln w="7620">
            <a:solidFill>
              <a:srgbClr val="F4F7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36976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командовал 2-й Западной армией?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5221224" y="3236976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 Багратион</a:t>
            </a:r>
            <a:endParaRPr lang="en-US" sz="1480" dirty="0"/>
          </a:p>
        </p:txBody>
      </p:sp>
      <p:sp>
        <p:nvSpPr>
          <p:cNvPr id="15" name="Shape 13"/>
          <p:cNvSpPr/>
          <p:nvPr/>
        </p:nvSpPr>
        <p:spPr>
          <a:xfrm>
            <a:off x="941832" y="3858768"/>
            <a:ext cx="7443216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95020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каким местом связан А. Тормасов?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5221224" y="3950208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Кобрин</a:t>
            </a:r>
            <a:endParaRPr lang="en-US" sz="1480" dirty="0"/>
          </a:p>
        </p:txBody>
      </p:sp>
      <p:sp>
        <p:nvSpPr>
          <p:cNvPr id="18" name="Shape 16"/>
          <p:cNvSpPr/>
          <p:nvPr/>
        </p:nvSpPr>
        <p:spPr>
          <a:xfrm>
            <a:off x="941832" y="4572000"/>
            <a:ext cx="7443216" cy="612648"/>
          </a:xfrm>
          <a:prstGeom prst="rect">
            <a:avLst/>
          </a:prstGeom>
          <a:solidFill>
            <a:srgbClr val="F4F7F6"/>
          </a:solidFill>
          <a:ln w="7620">
            <a:solidFill>
              <a:srgbClr val="F4F7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66344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сражались войска П. Витгенштейна?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5221224" y="4663440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Клястицами</a:t>
            </a:r>
            <a:endParaRPr lang="en-US" sz="1480" dirty="0"/>
          </a:p>
        </p:txBody>
      </p:sp>
      <p:sp>
        <p:nvSpPr>
          <p:cNvPr id="21" name="Shape 19"/>
          <p:cNvSpPr/>
          <p:nvPr/>
        </p:nvSpPr>
        <p:spPr>
          <a:xfrm>
            <a:off x="8951976" y="2221992"/>
            <a:ext cx="2542032" cy="3419856"/>
          </a:xfrm>
          <a:prstGeom prst="roundRect">
            <a:avLst>
              <a:gd name="adj" fmla="val 6475"/>
            </a:avLst>
          </a:prstGeom>
          <a:solidFill>
            <a:srgbClr val="0C474A"/>
          </a:solidFill>
          <a:ln w="7620">
            <a:solidFill>
              <a:srgbClr val="0C474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3728" y="2706624"/>
            <a:ext cx="1975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</a:t>
            </a:r>
            <a:endParaRPr lang="en-US" sz="214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2140" dirty="0"/>
          </a:p>
        </p:txBody>
      </p:sp>
      <p:sp>
        <p:nvSpPr>
          <p:cNvPr id="23" name="Text 21"/>
          <p:cNvSpPr/>
          <p:nvPr/>
        </p:nvSpPr>
        <p:spPr>
          <a:xfrm>
            <a:off x="9299448" y="3721608"/>
            <a:ext cx="18562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E4F5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даты  ✓</a:t>
            </a:r>
            <a:endParaRPr lang="en-US" sz="2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E4F5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имена ✓</a:t>
            </a:r>
            <a:endParaRPr lang="en-US" sz="2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E4F5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ключи  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500616" y="4946904"/>
            <a:ext cx="1371600" cy="365760"/>
          </a:xfrm>
          <a:prstGeom prst="roundRect">
            <a:avLst>
              <a:gd name="adj" fmla="val 45000"/>
            </a:avLst>
          </a:prstGeom>
          <a:solidFill>
            <a:srgbClr val="F8B54D"/>
          </a:solidFill>
          <a:ln w="7620">
            <a:solidFill>
              <a:srgbClr val="F8B5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0344" y="4956048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«ОК»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К ИИ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«ОК» создаем один автономный HTML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Техническое задание не должно оставлять сомнений о механике игры.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ЗАПРОС К ИИ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" y="2148840"/>
            <a:ext cx="7543800" cy="3584448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441448"/>
            <a:ext cx="365760" cy="36576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473452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99032" y="2427732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62072" y="2414016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.html, без регистрации, внешних библиотек и сети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914400" y="3054096"/>
            <a:ext cx="365760" cy="36576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308610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399032" y="3040380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62072" y="302666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Карточки/пары или викторина по выбранному маршруту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914400" y="3666744"/>
            <a:ext cx="365760" cy="36576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3698748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399032" y="3653028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862072" y="363931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открывать после попытки и отдельного действия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914400" y="4279392"/>
            <a:ext cx="365760" cy="365760"/>
          </a:xfrm>
          <a:prstGeom prst="ellipse">
            <a:avLst/>
          </a:prstGeom>
          <a:solidFill>
            <a:srgbClr val="3159B8"/>
          </a:solidFill>
          <a:ln w="12700">
            <a:solidFill>
              <a:srgbClr val="3159B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4311396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399032" y="4265676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862072" y="4251960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Крупный читаемый текст, телефон и компьютер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914400" y="4892040"/>
            <a:ext cx="365760" cy="365760"/>
          </a:xfrm>
          <a:prstGeom prst="ellipse">
            <a:avLst/>
          </a:prstGeom>
          <a:solidFill>
            <a:srgbClr val="3159B8"/>
          </a:solidFill>
          <a:ln w="12700">
            <a:solidFill>
              <a:srgbClr val="3159B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" y="4924044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1399032" y="4878324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862072" y="4864608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Счет, повтор, перезапуск, весь объем данных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8476488" y="2203704"/>
            <a:ext cx="3035808" cy="3447288"/>
          </a:xfrm>
          <a:prstGeom prst="roundRect">
            <a:avLst>
              <a:gd name="adj" fmla="val 5422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2551176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3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ОБРАЗЦА</a:t>
            </a:r>
            <a:endParaRPr lang="en-US" sz="163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3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«СВОЯ ИГРА»</a:t>
            </a:r>
            <a:endParaRPr lang="en-US" sz="1630" dirty="0"/>
          </a:p>
        </p:txBody>
      </p:sp>
      <p:sp>
        <p:nvSpPr>
          <p:cNvPr id="31" name="Text 29"/>
          <p:cNvSpPr/>
          <p:nvPr/>
        </p:nvSpPr>
        <p:spPr>
          <a:xfrm>
            <a:off x="8814816" y="3493008"/>
            <a:ext cx="230428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категории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вопросов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команды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 начисляются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выбора команды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НА ЭКРАНЕ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сообщения в чате до работающей игры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визуальные остановки: что именно искать на экране участника.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ПРОЦЕСС НА ЭКРАНЕ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2267712"/>
            <a:ext cx="2670048" cy="3218688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23313A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267712"/>
            <a:ext cx="2670048" cy="512064"/>
          </a:xfrm>
          <a:prstGeom prst="roundRect">
            <a:avLst>
              <a:gd name="adj" fmla="val 32143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7744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2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ЗАГРУЗКА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850392" y="3008376"/>
            <a:ext cx="2121408" cy="932688"/>
          </a:xfrm>
          <a:prstGeom prst="roundRect">
            <a:avLst>
              <a:gd name="adj" fmla="val 17647"/>
            </a:avLst>
          </a:prstGeom>
          <a:solidFill>
            <a:srgbClr val="EAF0FF"/>
          </a:solidFill>
          <a:ln w="762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363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40" b="1" dirty="0">
                <a:solidFill>
                  <a:srgbClr val="315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1812</a:t>
            </a:r>
            <a:endParaRPr lang="en-US" sz="154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40" b="1" dirty="0">
                <a:solidFill>
                  <a:srgbClr val="315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карточка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886968" y="4297680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2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 Файл прикреплен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3493008" y="2267712"/>
            <a:ext cx="2670048" cy="3218688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23313A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93008" y="2267712"/>
            <a:ext cx="2670048" cy="512064"/>
          </a:xfrm>
          <a:prstGeom prst="roundRect">
            <a:avLst>
              <a:gd name="adj" fmla="val 32143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237744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2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ТАБЛИЦА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3721608" y="3072384"/>
            <a:ext cx="2194560" cy="365760"/>
          </a:xfrm>
          <a:prstGeom prst="roundRect">
            <a:avLst>
              <a:gd name="adj" fmla="val 45000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3163824"/>
            <a:ext cx="1993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2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Личность   |   Роль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3721608" y="3575304"/>
            <a:ext cx="2194560" cy="365760"/>
          </a:xfrm>
          <a:prstGeom prst="roundRect">
            <a:avLst>
              <a:gd name="adj" fmla="val 45000"/>
            </a:avLst>
          </a:prstGeom>
          <a:solidFill>
            <a:srgbClr val="F8F7F4"/>
          </a:solidFill>
          <a:ln w="7620">
            <a:solidFill>
              <a:srgbClr val="F8F7F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3666744"/>
            <a:ext cx="1993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2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Багратион | Армия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3721608" y="4078224"/>
            <a:ext cx="2194560" cy="365760"/>
          </a:xfrm>
          <a:prstGeom prst="roundRect">
            <a:avLst>
              <a:gd name="adj" fmla="val 45000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2192" y="4169664"/>
            <a:ext cx="1993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2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Тормасов | Кобрин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3822192" y="4690872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2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 ключи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6391656" y="2267712"/>
            <a:ext cx="2670048" cy="3218688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23313A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91656" y="2267712"/>
            <a:ext cx="2670048" cy="512064"/>
          </a:xfrm>
          <a:prstGeom prst="roundRect">
            <a:avLst>
              <a:gd name="adj" fmla="val 32143"/>
            </a:avLst>
          </a:prstGeom>
          <a:solidFill>
            <a:srgbClr val="F8B54D"/>
          </a:solidFill>
          <a:ln w="7620">
            <a:solidFill>
              <a:srgbClr val="F8B5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237744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2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«ОК»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6922008" y="3401568"/>
            <a:ext cx="1627632" cy="804672"/>
          </a:xfrm>
          <a:prstGeom prst="roundRect">
            <a:avLst>
              <a:gd name="adj" fmla="val 20455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357530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665976" y="4572000"/>
            <a:ext cx="21305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3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проверки</a:t>
            </a:r>
            <a:endParaRPr lang="en-US" sz="143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3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</a:t>
            </a:r>
            <a:endParaRPr lang="en-US" sz="1430" dirty="0"/>
          </a:p>
        </p:txBody>
      </p:sp>
      <p:sp>
        <p:nvSpPr>
          <p:cNvPr id="30" name="Shape 28"/>
          <p:cNvSpPr/>
          <p:nvPr/>
        </p:nvSpPr>
        <p:spPr>
          <a:xfrm>
            <a:off x="9290304" y="2267712"/>
            <a:ext cx="2670048" cy="3218688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23313A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290304" y="2267712"/>
            <a:ext cx="2670048" cy="512064"/>
          </a:xfrm>
          <a:prstGeom prst="roundRect">
            <a:avLst>
              <a:gd name="adj" fmla="val 32143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45752" y="237744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2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HTML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9500616" y="2990088"/>
            <a:ext cx="2240280" cy="1325880"/>
          </a:xfrm>
          <a:prstGeom prst="roundRect">
            <a:avLst>
              <a:gd name="adj" fmla="val 12414"/>
            </a:avLst>
          </a:prstGeom>
          <a:solidFill>
            <a:srgbClr val="142E3B"/>
          </a:solidFill>
          <a:ln w="7620">
            <a:solidFill>
              <a:srgbClr val="142E3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65208" y="315468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60" dirty="0">
                <a:solidFill>
                  <a:srgbClr val="B9F2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36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60" dirty="0">
                <a:solidFill>
                  <a:srgbClr val="B9F2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36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60" dirty="0">
                <a:solidFill>
                  <a:srgbClr val="B9F2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6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60" dirty="0">
                <a:solidFill>
                  <a:srgbClr val="B9F2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360" dirty="0"/>
          </a:p>
        </p:txBody>
      </p:sp>
      <p:sp>
        <p:nvSpPr>
          <p:cNvPr id="35" name="Text 33"/>
          <p:cNvSpPr/>
          <p:nvPr/>
        </p:nvSpPr>
        <p:spPr>
          <a:xfrm>
            <a:off x="9601200" y="4709160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2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код / файл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1115568" y="5824728"/>
            <a:ext cx="9994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10" i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Иллюстративная схема этапов работы: реальные окна сервисов могут отличаться.</a:t>
            </a:r>
            <a:endParaRPr lang="en-US" sz="12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РЕЗУЛЬТАТА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HTML можно получить двумя путями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только в том, дает ли нейросеть файл для скачивания или выводит код.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СОХРАНЕНИЕ РЕЗУЛЬТАТА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4944" y="2313432"/>
            <a:ext cx="5157216" cy="3282696"/>
          </a:xfrm>
          <a:prstGeom prst="roundRect">
            <a:avLst>
              <a:gd name="adj" fmla="val 5014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" y="2606040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26E72"/>
          </a:solidFill>
          <a:ln w="762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37944" y="26883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СКАЧАТЬ ФАЙЛ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88136" y="3392424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6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создал файл для загрузки?</a:t>
            </a:r>
            <a:endParaRPr lang="en-US" sz="1660" dirty="0"/>
          </a:p>
        </p:txBody>
      </p:sp>
      <p:sp>
        <p:nvSpPr>
          <p:cNvPr id="13" name="Shape 11"/>
          <p:cNvSpPr/>
          <p:nvPr/>
        </p:nvSpPr>
        <p:spPr>
          <a:xfrm>
            <a:off x="1097280" y="3959352"/>
            <a:ext cx="4325112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9304" y="4123944"/>
            <a:ext cx="39502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315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1812_game.html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06424" y="4892040"/>
            <a:ext cx="44714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Скачайте → дважды откройте в браузере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91072" y="2313432"/>
            <a:ext cx="5157216" cy="3282696"/>
          </a:xfrm>
          <a:prstGeom prst="roundRect">
            <a:avLst>
              <a:gd name="adj" fmla="val 5014"/>
            </a:avLst>
          </a:prstGeom>
          <a:solidFill>
            <a:srgbClr val="EAF0FF"/>
          </a:solidFill>
          <a:ln w="762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606040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3159B8"/>
          </a:solidFill>
          <a:ln w="7620">
            <a:solidFill>
              <a:srgbClr val="3159B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06640" y="2688336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80" b="1" dirty="0">
                <a:solidFill>
                  <a:srgbClr val="315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СОХРАНИТЬ КОД</a:t>
            </a:r>
            <a:endParaRPr lang="en-US" sz="2180" dirty="0"/>
          </a:p>
        </p:txBody>
      </p:sp>
      <p:sp>
        <p:nvSpPr>
          <p:cNvPr id="20" name="Text 18"/>
          <p:cNvSpPr/>
          <p:nvPr/>
        </p:nvSpPr>
        <p:spPr>
          <a:xfrm>
            <a:off x="6702552" y="3392424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6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показал HTML в сообщении?</a:t>
            </a:r>
            <a:endParaRPr lang="en-US" sz="1660" dirty="0"/>
          </a:p>
        </p:txBody>
      </p:sp>
      <p:sp>
        <p:nvSpPr>
          <p:cNvPr id="21" name="Shape 19"/>
          <p:cNvSpPr/>
          <p:nvPr/>
        </p:nvSpPr>
        <p:spPr>
          <a:xfrm>
            <a:off x="6720840" y="3959352"/>
            <a:ext cx="4306824" cy="630936"/>
          </a:xfrm>
          <a:prstGeom prst="roundRect">
            <a:avLst>
              <a:gd name="adj" fmla="val 26087"/>
            </a:avLst>
          </a:prstGeom>
          <a:solidFill>
            <a:srgbClr val="142E3B"/>
          </a:solidFill>
          <a:ln w="7620">
            <a:solidFill>
              <a:srgbClr val="142E3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4142232"/>
            <a:ext cx="3877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B9F2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  …  &lt;/html&gt;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11696" y="4892040"/>
            <a:ext cx="4471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Скопируйте весь код → откройте «Блокнот»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БЛОКНОТ / TXT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«Сохранить как»: три настройки решают все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HTML не превратится в обычный текстовый файл.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БЛОКНОТ / TXT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112264"/>
            <a:ext cx="7534656" cy="3758184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23313A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112264"/>
            <a:ext cx="7534656" cy="438912"/>
          </a:xfrm>
          <a:prstGeom prst="roundRect">
            <a:avLst>
              <a:gd name="adj" fmla="val 37500"/>
            </a:avLst>
          </a:prstGeom>
          <a:solidFill>
            <a:srgbClr val="E7EBEF"/>
          </a:solidFill>
          <a:ln w="7620">
            <a:solidFill>
              <a:srgbClr val="E7EBE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231136"/>
            <a:ext cx="5760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файла  ·  Блокнот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файла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16352" y="2715768"/>
            <a:ext cx="4828032" cy="484632"/>
          </a:xfrm>
          <a:prstGeom prst="roundRect">
            <a:avLst>
              <a:gd name="adj" fmla="val 33962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2816352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trenazher.html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57530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файла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16352" y="3511296"/>
            <a:ext cx="4828032" cy="484632"/>
          </a:xfrm>
          <a:prstGeom prst="roundRect">
            <a:avLst>
              <a:gd name="adj" fmla="val 33962"/>
            </a:avLst>
          </a:prstGeom>
          <a:solidFill>
            <a:srgbClr val="EAF0FF"/>
          </a:solidFill>
          <a:ln w="762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360273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15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файлы (*.*)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437083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Кодировка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16352" y="4306824"/>
            <a:ext cx="4828032" cy="484632"/>
          </a:xfrm>
          <a:prstGeom prst="roundRect">
            <a:avLst>
              <a:gd name="adj" fmla="val 33962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438912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UTF-8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248656" y="5111496"/>
            <a:ext cx="2414016" cy="420624"/>
          </a:xfrm>
          <a:prstGeom prst="roundRect">
            <a:avLst>
              <a:gd name="adj" fmla="val 39130"/>
            </a:avLst>
          </a:prstGeom>
          <a:solidFill>
            <a:srgbClr val="3159B8"/>
          </a:solidFill>
          <a:ln w="7620">
            <a:solidFill>
              <a:srgbClr val="3159B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51846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67344" y="2130552"/>
            <a:ext cx="3026664" cy="1975104"/>
          </a:xfrm>
          <a:prstGeom prst="roundRect">
            <a:avLst>
              <a:gd name="adj" fmla="val 8333"/>
            </a:avLst>
          </a:prstGeom>
          <a:solidFill>
            <a:srgbClr val="FFEBE7"/>
          </a:solidFill>
          <a:ln w="7620">
            <a:solidFill>
              <a:srgbClr val="FFEB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87384" y="239572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17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НЕПРАВИЛЬНО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23376" y="29535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trenazher.html.txt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787384" y="3630168"/>
            <a:ext cx="2350008" cy="0"/>
          </a:xfrm>
          <a:prstGeom prst="line">
            <a:avLst/>
          </a:prstGeom>
          <a:noFill/>
          <a:ln w="26670">
            <a:solidFill>
              <a:srgbClr val="F17660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8467344" y="4379976"/>
            <a:ext cx="3026664" cy="1463040"/>
          </a:xfrm>
          <a:prstGeom prst="roundRect">
            <a:avLst>
              <a:gd name="adj" fmla="val 11250"/>
            </a:avLst>
          </a:prstGeom>
          <a:solidFill>
            <a:srgbClr val="E7F4EA"/>
          </a:solidFill>
          <a:ln w="7620">
            <a:solidFill>
              <a:srgbClr val="E7F4E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41664" y="4654296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38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ПРАВИЛЬНО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68512" y="5084064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trenazher.html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МЕТОДИЧЕСКИЙ И ТЕХНИЧЕСКИЙ АУДИТ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Красивая игра — еще не проверенная игра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Пройдите мини-аудит, прежде чем отдавать тренажер ученикам.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/  МЕТОДИЧЕСКИЙ И ТЕХНИЧЕСКИЙ АУДИТ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" y="2139696"/>
            <a:ext cx="10881360" cy="566928"/>
          </a:xfrm>
          <a:prstGeom prst="roundRect">
            <a:avLst>
              <a:gd name="adj" fmla="val 29032"/>
            </a:avLst>
          </a:prstGeom>
          <a:solidFill>
            <a:srgbClr val="EDF5F2"/>
          </a:solidFill>
          <a:ln w="7620">
            <a:solidFill>
              <a:srgbClr val="EDF5F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286000"/>
            <a:ext cx="274320" cy="27432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3836" y="22768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44752" y="2295144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7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ФАКТЫ</a:t>
            </a:r>
            <a:endParaRPr lang="en-US" sz="1470" dirty="0"/>
          </a:p>
        </p:txBody>
      </p:sp>
      <p:sp>
        <p:nvSpPr>
          <p:cNvPr id="12" name="Text 10"/>
          <p:cNvSpPr/>
          <p:nvPr/>
        </p:nvSpPr>
        <p:spPr>
          <a:xfrm>
            <a:off x="3520440" y="2276856"/>
            <a:ext cx="7589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даты, имена и определения соответствуют источнику</a:t>
            </a:r>
            <a:endParaRPr lang="en-US" sz="1480" dirty="0"/>
          </a:p>
        </p:txBody>
      </p:sp>
      <p:sp>
        <p:nvSpPr>
          <p:cNvPr id="13" name="Shape 11"/>
          <p:cNvSpPr/>
          <p:nvPr/>
        </p:nvSpPr>
        <p:spPr>
          <a:xfrm>
            <a:off x="676656" y="2834640"/>
            <a:ext cx="10881360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980944"/>
            <a:ext cx="274320" cy="27432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" y="29718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44752" y="299008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7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КЛЮЧИ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3520440" y="2971800"/>
            <a:ext cx="7589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двусмысленных заданий и двух верных ответов</a:t>
            </a:r>
            <a:endParaRPr lang="en-US" sz="1480" dirty="0"/>
          </a:p>
        </p:txBody>
      </p:sp>
      <p:sp>
        <p:nvSpPr>
          <p:cNvPr id="18" name="Shape 16"/>
          <p:cNvSpPr/>
          <p:nvPr/>
        </p:nvSpPr>
        <p:spPr>
          <a:xfrm>
            <a:off x="676656" y="3529584"/>
            <a:ext cx="10881360" cy="566928"/>
          </a:xfrm>
          <a:prstGeom prst="roundRect">
            <a:avLst>
              <a:gd name="adj" fmla="val 29032"/>
            </a:avLst>
          </a:prstGeom>
          <a:solidFill>
            <a:srgbClr val="EDF5F2"/>
          </a:solidFill>
          <a:ln w="7620">
            <a:solidFill>
              <a:srgbClr val="EDF5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675888"/>
            <a:ext cx="274320" cy="27432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" y="36667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44752" y="3685032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7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</a:t>
            </a:r>
            <a:endParaRPr lang="en-US" sz="1470" dirty="0"/>
          </a:p>
        </p:txBody>
      </p:sp>
      <p:sp>
        <p:nvSpPr>
          <p:cNvPr id="22" name="Text 20"/>
          <p:cNvSpPr/>
          <p:nvPr/>
        </p:nvSpPr>
        <p:spPr>
          <a:xfrm>
            <a:off x="3520440" y="3666744"/>
            <a:ext cx="7589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Баллы, показ ответа и перезапуск работают</a:t>
            </a:r>
            <a:endParaRPr lang="en-US" sz="1480" dirty="0"/>
          </a:p>
        </p:txBody>
      </p:sp>
      <p:sp>
        <p:nvSpPr>
          <p:cNvPr id="23" name="Shape 21"/>
          <p:cNvSpPr/>
          <p:nvPr/>
        </p:nvSpPr>
        <p:spPr>
          <a:xfrm>
            <a:off x="676656" y="4224528"/>
            <a:ext cx="10881360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370832"/>
            <a:ext cx="274320" cy="27432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836" y="4361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44752" y="4379976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7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</a:t>
            </a:r>
            <a:endParaRPr lang="en-US" sz="1470" dirty="0"/>
          </a:p>
        </p:txBody>
      </p:sp>
      <p:sp>
        <p:nvSpPr>
          <p:cNvPr id="27" name="Text 25"/>
          <p:cNvSpPr/>
          <p:nvPr/>
        </p:nvSpPr>
        <p:spPr>
          <a:xfrm>
            <a:off x="3520440" y="4361688"/>
            <a:ext cx="7589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полностью видны на компьютере и телефоне</a:t>
            </a:r>
            <a:endParaRPr lang="en-US" sz="1480" dirty="0"/>
          </a:p>
        </p:txBody>
      </p:sp>
      <p:sp>
        <p:nvSpPr>
          <p:cNvPr id="28" name="Shape 26"/>
          <p:cNvSpPr/>
          <p:nvPr/>
        </p:nvSpPr>
        <p:spPr>
          <a:xfrm>
            <a:off x="676656" y="4919472"/>
            <a:ext cx="10881360" cy="566928"/>
          </a:xfrm>
          <a:prstGeom prst="roundRect">
            <a:avLst>
              <a:gd name="adj" fmla="val 29032"/>
            </a:avLst>
          </a:prstGeom>
          <a:solidFill>
            <a:srgbClr val="EDF5F2"/>
          </a:solidFill>
          <a:ln w="7620">
            <a:solidFill>
              <a:srgbClr val="EDF5F2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5065776"/>
            <a:ext cx="274320" cy="274320"/>
          </a:xfrm>
          <a:prstGeom prst="ellipse">
            <a:avLst/>
          </a:prstGeom>
          <a:solidFill>
            <a:srgbClr val="126E72"/>
          </a:solidFill>
          <a:ln w="12700">
            <a:solidFill>
              <a:srgbClr val="126E7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3836" y="50566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44752" y="507492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7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ОФЛАЙН</a:t>
            </a:r>
            <a:endParaRPr lang="en-US" sz="1470" dirty="0"/>
          </a:p>
        </p:txBody>
      </p:sp>
      <p:sp>
        <p:nvSpPr>
          <p:cNvPr id="32" name="Text 30"/>
          <p:cNvSpPr/>
          <p:nvPr/>
        </p:nvSpPr>
        <p:spPr>
          <a:xfrm>
            <a:off x="3520440" y="5056632"/>
            <a:ext cx="7589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8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открывается без подключения к интернету</a:t>
            </a:r>
            <a:endParaRPr lang="en-US" sz="14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10896"/>
          </a:xfrm>
          <a:prstGeom prst="roundRect">
            <a:avLst>
              <a:gd name="adj" fmla="val 5294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023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РАЗДАТОЧНЫЕ МАТЕРИАЛЫ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64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95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памятки — одна логика самостоятельной работы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участников есть готовые промпты: их не нужно перепечатывать со слайдов.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  /  ВАЙБКОДИНГ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92640" y="65105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/  РАЗДАТОЧНЫЕ МАТЕРИАЛЫ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4944" y="2258568"/>
            <a:ext cx="10808208" cy="996696"/>
          </a:xfrm>
          <a:prstGeom prst="roundRect">
            <a:avLst>
              <a:gd name="adj" fmla="val 16514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450592"/>
            <a:ext cx="658368" cy="621792"/>
          </a:xfrm>
          <a:prstGeom prst="roundRect">
            <a:avLst>
              <a:gd name="adj" fmla="val 26471"/>
            </a:avLst>
          </a:prstGeom>
          <a:solidFill>
            <a:srgbClr val="FFF3DC"/>
          </a:solidFill>
          <a:ln w="7620">
            <a:solidFill>
              <a:srgbClr val="FFF3D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596896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37944" y="24323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КРАТКАЯ ПАМЯТКА A4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37944" y="2807208"/>
            <a:ext cx="8732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8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Алгоритм, форматы файлов, стартовый промпт и проверка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94944" y="3465576"/>
            <a:ext cx="10808208" cy="996696"/>
          </a:xfrm>
          <a:prstGeom prst="roundRect">
            <a:avLst>
              <a:gd name="adj" fmla="val 16514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3657600"/>
            <a:ext cx="658368" cy="621792"/>
          </a:xfrm>
          <a:prstGeom prst="roundRect">
            <a:avLst>
              <a:gd name="adj" fmla="val 26471"/>
            </a:avLst>
          </a:prstGeom>
          <a:solidFill>
            <a:srgbClr val="DCF0EB"/>
          </a:solidFill>
          <a:ln w="7620">
            <a:solidFill>
              <a:srgbClr val="DCF0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803904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37944" y="36393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УНИВЕРСАЛЬНАЯ ПАМЯТКА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37944" y="4014216"/>
            <a:ext cx="8732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8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Маршруты А / Б / В, типичные ошибки и промпт аудита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694944" y="4672584"/>
            <a:ext cx="10808208" cy="996696"/>
          </a:xfrm>
          <a:prstGeom prst="roundRect">
            <a:avLst>
              <a:gd name="adj" fmla="val 16514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4864608"/>
            <a:ext cx="658368" cy="621792"/>
          </a:xfrm>
          <a:prstGeom prst="roundRect">
            <a:avLst>
              <a:gd name="adj" fmla="val 26471"/>
            </a:avLst>
          </a:prstGeom>
          <a:solidFill>
            <a:srgbClr val="EAF0FF"/>
          </a:solidFill>
          <a:ln w="762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5010912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C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37944" y="4846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ТРЕНИРОВКА И ПРОМПТЫ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37944" y="5221224"/>
            <a:ext cx="8732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8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1812 года, командная игра и практические кейсы</a:t>
            </a:r>
            <a:endParaRPr lang="en-US" sz="13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" y="557784"/>
            <a:ext cx="3200400" cy="365760"/>
          </a:xfrm>
          <a:prstGeom prst="roundRect">
            <a:avLst>
              <a:gd name="adj" fmla="val 45000"/>
            </a:avLst>
          </a:prstGeom>
          <a:solidFill>
            <a:srgbClr val="F8B54D"/>
          </a:solidFill>
          <a:ln w="7620">
            <a:solidFill>
              <a:srgbClr val="F8B5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66928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ПРОДОЛЖЕНИЕ ПОСЛЕ МК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7512" y="1197864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цифровых подарка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676656" y="18745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CFE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идею можно было сразу перенести в собственный урок.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569464"/>
            <a:ext cx="5276088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889504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Лица истории Беларуси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78408" y="3502152"/>
            <a:ext cx="33192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3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Игры по историческим личностям</a:t>
            </a:r>
            <a:endParaRPr lang="en-US" sz="173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73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 классов</a:t>
            </a:r>
            <a:endParaRPr lang="en-US" sz="1730" dirty="0"/>
          </a:p>
        </p:txBody>
      </p:sp>
      <p:pic>
        <p:nvPicPr>
          <p:cNvPr id="9" name="Image 0" descr="/mnt/data/mk_new/assets/qr_lit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392424"/>
            <a:ext cx="1307592" cy="1307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4608576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40" dirty="0">
                <a:solidFill>
                  <a:srgbClr val="62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 по QR или ссылке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6190488" y="2569464"/>
            <a:ext cx="5266944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1384" y="2862072"/>
            <a:ext cx="4654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30" b="1" dirty="0">
                <a:solidFill>
                  <a:srgbClr val="12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Конструктор гуманитарных игр</a:t>
            </a:r>
            <a:endParaRPr lang="en-US" sz="2130" dirty="0"/>
          </a:p>
        </p:txBody>
      </p:sp>
      <p:sp>
        <p:nvSpPr>
          <p:cNvPr id="13" name="Text 10"/>
          <p:cNvSpPr/>
          <p:nvPr/>
        </p:nvSpPr>
        <p:spPr>
          <a:xfrm>
            <a:off x="6501384" y="3730752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8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Создайте собственную викторину</a:t>
            </a:r>
            <a:endParaRPr lang="en-US" sz="168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8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истории, обществоведения</a:t>
            </a:r>
            <a:endParaRPr lang="en-US" sz="168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80" dirty="0">
                <a:solidFill>
                  <a:srgbClr val="182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других гуманитарных предметов.</a:t>
            </a:r>
            <a:endParaRPr lang="en-US" sz="1680" dirty="0"/>
          </a:p>
        </p:txBody>
      </p:sp>
      <p:sp>
        <p:nvSpPr>
          <p:cNvPr id="14" name="Shape 11"/>
          <p:cNvSpPr/>
          <p:nvPr/>
        </p:nvSpPr>
        <p:spPr>
          <a:xfrm>
            <a:off x="777240" y="5669280"/>
            <a:ext cx="10661904" cy="448056"/>
          </a:xfrm>
          <a:prstGeom prst="roundRect">
            <a:avLst>
              <a:gd name="adj" fmla="val 36735"/>
            </a:avLst>
          </a:prstGeom>
          <a:solidFill>
            <a:srgbClr val="1C6268"/>
          </a:solidFill>
          <a:ln w="7620">
            <a:solidFill>
              <a:srgbClr val="1C626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5760720"/>
            <a:ext cx="10296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 → проверка → HTML → аудит → урок.  ИИ пишет код — учитель создает обучение.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A8C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НА ТЫ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2013</Words>
  <Application>Microsoft Office PowerPoint</Application>
  <PresentationFormat>Широкоэкранный</PresentationFormat>
  <Paragraphs>373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История на Ты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карточки к тренажеру · Вайбкодинг</dc:title>
  <dc:subject>Мастер-класс: вайбкодинг для учителей истории и обществоведения</dc:subject>
  <dc:creator>История на Ты</dc:creator>
  <cp:lastModifiedBy>sula.gm15@gmail.com</cp:lastModifiedBy>
  <cp:revision>4</cp:revision>
  <dcterms:created xsi:type="dcterms:W3CDTF">2026-10-20T08:59:34Z</dcterms:created>
  <dcterms:modified xsi:type="dcterms:W3CDTF">2026-10-20T09:36:06Z</dcterms:modified>
</cp:coreProperties>
</file>